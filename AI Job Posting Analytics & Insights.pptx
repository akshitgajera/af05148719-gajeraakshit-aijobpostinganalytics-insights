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7F502-B60F-D0DE-7F5B-B7DF5D3C77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331CF6-7D2B-869A-CA2E-362158F3E3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F037A-AA7B-AD4C-3138-6FBBFCAD3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9A754-CDB5-9E0A-14DC-E2755EF83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7B21B-541C-9FB2-0CD2-F1B563BC2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843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023A4-6AA9-9127-4C5F-9331BD959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521D8-C840-702E-BA70-2DBD1760B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485D1-BF6E-F2DD-D33D-2CB09FCDE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5317B-E5EB-8915-E6C8-736A7EB30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E6824-D929-E2A3-9DAE-5F217626C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2964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62ED0-07E2-65B0-0CDA-D4865B9B3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25ADD-DFD5-6CEF-7DD9-7AC3DA30A6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6D27B-96D9-D062-5D87-ED5C9CC6E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C6558-11C8-45A9-B617-8E9F6B4A6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A5F098-2CE7-080E-D74F-F2D4743AC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1792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E58CA-6F6C-9AB2-02D7-3C2F7DAB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135F7-DCF8-F1C4-A1C2-139D0FC3E3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506EA9-5086-668B-B06D-8B38104E5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EC5E56-D423-2C5E-5823-5E27A1BEC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1A86A5-6DC3-6B14-6800-5C06833C4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680189-63A2-06CC-7140-C78BB3D76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108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7084C-10A6-FDBE-BDE0-D6ABF066F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1B4082-19D4-3617-B7BE-6DDAFD2EC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8FE1D4-BD47-E157-DF8B-63CEFF802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D8D0C5-1C69-AA07-695A-2A3B9D2A87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7B3A4B-6444-0C4C-3010-0D50651E75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405832-5FB7-FAEF-90C9-466921A9E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03ED92-C5F3-ECD4-1826-FE61B7D1E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0219D8-E768-6D84-C53C-9F4A298ED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2698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22062-B449-311A-1B10-50840BDA0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8FC61E-FB2C-0086-33AF-3DEA7EE9C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B26178-256F-406F-72CA-F0E329316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4A0A8E-389C-487C-6587-2F9009A4F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8340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C2C32C-5CD5-951A-1116-7E6AE12C1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159A23-4B0F-1B5C-2FFA-883823833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122A8-5D5A-DC78-B228-1671F8D84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2287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CB77B-DA3F-2E63-E5A5-8BB0A9C73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25D03-6D5B-BED2-01D4-2490E819CC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8DAC0-7A2A-C57C-C44C-9DC8C7837C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2564D7-568E-7503-9FDE-9E5AF788B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6A312A-225B-6FE9-6126-736B82FF4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F302C-86F5-BCC4-83D2-E0FA3DA91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3417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28DE3-00C4-E9C7-544D-72A241CEC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784970-18D6-3C12-0141-53BEF49922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6DD04F-02EE-47BC-FA38-D4079CB3F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BBB222-814A-978B-3C64-7279B2D7F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ADDA82-FCC8-3022-2DB5-E1375C2D4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7F4E5C-F16A-85FB-D7CA-18E8151F7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7424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D8C7F-7084-39F4-DFF6-1F1B0FC35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592309-38B7-3603-2E2F-0925EB7609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EB5E4-C3AF-F9A6-5D37-22AFDA89D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3B377-1FA6-8E19-CC78-9CE181DDC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27441-8FF5-17D7-B0B4-49C82778A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253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68589A-D0F5-8A31-04C5-EA63E3B88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8BA247-6095-748C-9472-B8C52C5D37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34AFC-CD1B-7DA0-635E-9FC909FE1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C5D87C-C832-00A9-4000-91DCAC7F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26DAC-ACE4-5B9F-299E-D9DC70ABD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5514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0DC4D0-0FA7-C297-E700-D0110430F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471223-4175-BA3B-1539-833BFA9C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D2843-BD36-DAD2-5BC4-7F7865C81B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5D64E-8980-B195-241F-8496D484CC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C2F5B-4E0A-48AA-B382-ACBEEE3E4B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8209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10D19-4BFF-BEEB-743A-DB3F99AE45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latin typeface="Arial Black" panose="020B0A04020102020204" pitchFamily="34" charset="0"/>
              </a:rPr>
              <a:t>AI Job Posting Analytics &amp; Insights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338758-A85D-45ED-670B-CCFD1059D5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b="1" dirty="0"/>
              <a:t>Gajera Akshit </a:t>
            </a:r>
          </a:p>
        </p:txBody>
      </p:sp>
    </p:spTree>
    <p:extLst>
      <p:ext uri="{BB962C8B-B14F-4D97-AF65-F5344CB8AC3E}">
        <p14:creationId xmlns:p14="http://schemas.microsoft.com/office/powerpoint/2010/main" val="1863827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C2D4-AAB9-589D-F173-A6BBE56B5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Arial Black" panose="020B0A04020102020204" pitchFamily="34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1D0C1-2230-6441-0070-73361DBBE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26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3600" b="1" dirty="0"/>
              <a:t>Background:</a:t>
            </a:r>
            <a:br>
              <a:rPr lang="en-IN" sz="3600" dirty="0"/>
            </a:br>
            <a:r>
              <a:rPr lang="en-IN" sz="3600" dirty="0"/>
              <a:t>The Artificial Intelligence and Machine Learning industry has seen explosive growth over the past few years, creating a surge in specialized job roles — from Machine Learning Engineers and AI Architects to Autonomous Systems Engineers. However, this rapid expansion has created a fragmented and opaque job market where critical information is scattered across platforms, making informed decision-making difficult for all stakeholders.</a:t>
            </a:r>
          </a:p>
        </p:txBody>
      </p:sp>
    </p:spTree>
    <p:extLst>
      <p:ext uri="{BB962C8B-B14F-4D97-AF65-F5344CB8AC3E}">
        <p14:creationId xmlns:p14="http://schemas.microsoft.com/office/powerpoint/2010/main" val="3915610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4A703-8E43-058E-53EB-F5CDC2F30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0B388-6462-F9B3-CB29-35BD0C45B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Key Problems Identified:</a:t>
            </a:r>
            <a:endParaRPr lang="en-IN" dirty="0"/>
          </a:p>
          <a:p>
            <a:pPr lvl="0"/>
            <a:r>
              <a:rPr lang="en-IN" b="1" dirty="0"/>
              <a:t>Lack of Salary Transparency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Compensation varies widely ($115K average, but with significant spread) based on experience, company size, industry, and location — yet job seekers have no consolidated benchmark to evaluate offers or negotiate fairly</a:t>
            </a:r>
          </a:p>
          <a:p>
            <a:pPr lvl="1"/>
            <a:r>
              <a:rPr lang="en-IN" dirty="0"/>
              <a:t>Unclear how benefits scores, remote ratio, and experience jointly influence total compensation</a:t>
            </a:r>
          </a:p>
          <a:p>
            <a:pPr lvl="0"/>
            <a:r>
              <a:rPr lang="en-IN" b="1" dirty="0"/>
              <a:t>Fragmented Skill Demand Signals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In-demand skills (Python, SQL, AWS, Deep Learning, TensorFlow, </a:t>
            </a:r>
            <a:r>
              <a:rPr lang="en-IN" dirty="0" err="1"/>
              <a:t>MLOps</a:t>
            </a:r>
            <a:r>
              <a:rPr lang="en-IN" dirty="0"/>
              <a:t>, Kubernetes, NLP) are mentioned inconsistently across job boards, making it hard for students/professionals to prioritize learning paths that align with market needs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DE8705B-16A7-20DB-BDBB-AE2A41AAA186}"/>
              </a:ext>
            </a:extLst>
          </p:cNvPr>
          <p:cNvSpPr txBox="1">
            <a:spLocks/>
          </p:cNvSpPr>
          <p:nvPr/>
        </p:nvSpPr>
        <p:spPr>
          <a:xfrm>
            <a:off x="838200" y="5000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latin typeface="Arial Black" panose="020B0A04020102020204" pitchFamily="34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2340200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BE279-6006-8CAA-1816-DB27D1628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8FF66-C702-D9C0-C166-6C6CADDAE0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IN" b="1" dirty="0"/>
              <a:t>Unclear Remote Work Trends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Only ~33% of roles are fully remote, but this varies drastically by industry (e.g., Media/Consulting </a:t>
            </a:r>
            <a:r>
              <a:rPr lang="en-IN" dirty="0" err="1"/>
              <a:t>favor</a:t>
            </a:r>
            <a:r>
              <a:rPr lang="en-IN" dirty="0"/>
              <a:t> hybrid) — without data, professionals can't target industries matching their work-flexibility preferences</a:t>
            </a:r>
          </a:p>
          <a:p>
            <a:pPr lvl="0"/>
            <a:r>
              <a:rPr lang="en-IN" b="1" dirty="0"/>
              <a:t>Education-to-Opportunity Mismatch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Nearly equal demand across Bachelor's, Master's, Associate, and PhD-level roles (~25% each) raises the question of whether higher education levels are translating into proportionally better outcomes (salary, seniority) — this isn't visible without analysis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D1040CC-F572-1188-390E-63F24B62540D}"/>
              </a:ext>
            </a:extLst>
          </p:cNvPr>
          <p:cNvSpPr txBox="1">
            <a:spLocks/>
          </p:cNvSpPr>
          <p:nvPr/>
        </p:nvSpPr>
        <p:spPr>
          <a:xfrm>
            <a:off x="838200" y="5000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latin typeface="Arial Black" panose="020B0A04020102020204" pitchFamily="34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1622314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CB192-83EE-DF92-ABFF-926452B6D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2A66C-AE30-540C-61D8-0D3FAFD13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IN" b="1" dirty="0"/>
              <a:t>Inconsistent Regional &amp; Industry Hiring Patterns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Hiring is concentrated in specific countries (Germany, France, Denmark, Canada, Austria) and industries (Retail, Technology leading) — but the underlying drivers (cost of </a:t>
            </a:r>
            <a:r>
              <a:rPr lang="en-IN" dirty="0" err="1"/>
              <a:t>labor</a:t>
            </a:r>
            <a:r>
              <a:rPr lang="en-IN" dirty="0"/>
              <a:t>, remote policies, industry maturity) are not well understood by outside observers</a:t>
            </a:r>
          </a:p>
          <a:p>
            <a:pPr lvl="0"/>
            <a:r>
              <a:rPr lang="en-IN" b="1" dirty="0"/>
              <a:t>No Centralized Decision-Support Tool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Job seekers, HR teams, and career </a:t>
            </a:r>
            <a:r>
              <a:rPr lang="en-IN" dirty="0" err="1"/>
              <a:t>counselors</a:t>
            </a:r>
            <a:r>
              <a:rPr lang="en-IN" dirty="0"/>
              <a:t> currently rely on manual research across multiple job boards and salary aggregators — a slow, incomplete, and bias-prone process with no single source of truth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40703CA-934F-717E-4BBA-2B6666B0F920}"/>
              </a:ext>
            </a:extLst>
          </p:cNvPr>
          <p:cNvSpPr txBox="1">
            <a:spLocks/>
          </p:cNvSpPr>
          <p:nvPr/>
        </p:nvSpPr>
        <p:spPr>
          <a:xfrm>
            <a:off x="838200" y="5000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latin typeface="Arial Black" panose="020B0A04020102020204" pitchFamily="34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024697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373</Words>
  <Application>Microsoft Office PowerPoint</Application>
  <PresentationFormat>Widescreen</PresentationFormat>
  <Paragraphs>21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Arial Black</vt:lpstr>
      <vt:lpstr>Calibri</vt:lpstr>
      <vt:lpstr>Calibri Light</vt:lpstr>
      <vt:lpstr>Office Theme</vt:lpstr>
      <vt:lpstr>AI Job Posting Analytics &amp; Insights</vt:lpstr>
      <vt:lpstr>Problem Statement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Akshit Gajera</dc:creator>
  <cp:lastModifiedBy>Akshit Gajera</cp:lastModifiedBy>
  <cp:revision>2</cp:revision>
  <dcterms:created xsi:type="dcterms:W3CDTF">2026-09-10T06:25:06Z</dcterms:created>
  <dcterms:modified xsi:type="dcterms:W3CDTF">2026-09-10T06:35:18Z</dcterms:modified>
</cp:coreProperties>
</file>