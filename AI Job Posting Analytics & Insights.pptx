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4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42" y="97104"/>
            <a:ext cx="4134357" cy="3331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492488"/>
            <a:ext cx="3349751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73880" y="0"/>
            <a:ext cx="78181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6644" y="6338703"/>
            <a:ext cx="219669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383669" y="6338703"/>
            <a:ext cx="1392578" cy="365125"/>
          </a:xfrm>
        </p:spPr>
        <p:txBody>
          <a:bodyPr/>
          <a:lstStyle/>
          <a:p>
            <a:fld id="{F4C0BD39-1B99-433C-9596-B5362264345D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3776247" y="6342301"/>
            <a:ext cx="429207" cy="365125"/>
          </a:xfrm>
        </p:spPr>
        <p:txBody>
          <a:bodyPr/>
          <a:lstStyle/>
          <a:p>
            <a:fld id="{546F705C-6922-4C96-9DE2-DADC8B001C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442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09862"/>
            <a:ext cx="10963656" cy="4513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0BD39-1B99-433C-9596-B5362264345D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F705C-6922-4C96-9DE2-DADC8B001C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565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888410" cy="284556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88841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7424272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343955"/>
            <a:ext cx="210048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67853" y="6343955"/>
            <a:ext cx="14751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4C0BD39-1B99-433C-9596-B5362264345D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066" y="6343955"/>
            <a:ext cx="429207" cy="365125"/>
          </a:xfrm>
        </p:spPr>
        <p:txBody>
          <a:bodyPr/>
          <a:lstStyle/>
          <a:p>
            <a:fld id="{546F705C-6922-4C96-9DE2-DADC8B001C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747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1143000"/>
            <a:ext cx="8683753" cy="309514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4498848"/>
            <a:ext cx="6881457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6343955"/>
            <a:ext cx="2875064" cy="365125"/>
          </a:xfrm>
        </p:spPr>
        <p:txBody>
          <a:bodyPr/>
          <a:lstStyle/>
          <a:p>
            <a:fld id="{F4C0BD39-1B99-433C-9596-B5362264345D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F705C-6922-4C96-9DE2-DADC8B001C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30285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C53C90-8C33-0C80-CBD4-B3BEE604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58" y="1869103"/>
            <a:ext cx="9337042" cy="4906929"/>
          </a:xfrm>
        </p:spPr>
        <p:txBody>
          <a:bodyPr>
            <a:normAutofit/>
          </a:bodyPr>
          <a:lstStyle>
            <a:lvl1pPr>
              <a:defRPr sz="7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/>
          <a:lstStyle/>
          <a:p>
            <a:fld id="{F4C0BD39-1B99-433C-9596-B5362264345D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/>
          <a:lstStyle/>
          <a:p>
            <a:fld id="{546F705C-6922-4C96-9DE2-DADC8B001C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19671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11" y="105196"/>
            <a:ext cx="9023561" cy="2113392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0BD39-1B99-433C-9596-B5362264345D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F705C-6922-4C96-9DE2-DADC8B001C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0653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1011" y="73742"/>
            <a:ext cx="6863496" cy="2220726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4565591" cy="68580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88000" y="2726267"/>
            <a:ext cx="5916507" cy="343678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88000" y="6343955"/>
            <a:ext cx="29854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/>
          <a:lstStyle/>
          <a:p>
            <a:fld id="{F4C0BD39-1B99-433C-9596-B5362264345D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546F705C-6922-4C96-9DE2-DADC8B001C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2247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388700"/>
            <a:ext cx="3923455" cy="408358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1" y="1389134"/>
            <a:ext cx="6045390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0BD39-1B99-433C-9596-B5362264345D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F705C-6922-4C96-9DE2-DADC8B001C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5542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707549"/>
            <a:ext cx="3349754" cy="272145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0" y="708184"/>
            <a:ext cx="6928103" cy="5514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0BD39-1B99-433C-9596-B5362264345D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F705C-6922-4C96-9DE2-DADC8B001C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286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6011" y="612648"/>
            <a:ext cx="6426389" cy="1143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7368" y="1978488"/>
            <a:ext cx="6418935" cy="4285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010" y="6343955"/>
            <a:ext cx="3364903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/>
          <a:lstStyle/>
          <a:p>
            <a:fld id="{F4C0BD39-1B99-433C-9596-B5362264345D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546F705C-6922-4C96-9DE2-DADC8B001C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7557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8" y="474177"/>
            <a:ext cx="6950232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1627632"/>
            <a:ext cx="6950232" cy="4686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8" y="6343955"/>
            <a:ext cx="342290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/>
          <a:lstStyle/>
          <a:p>
            <a:fld id="{F4C0BD39-1B99-433C-9596-B5362264345D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546F705C-6922-4C96-9DE2-DADC8B001C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55564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475488"/>
            <a:ext cx="6858000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627632"/>
            <a:ext cx="6858000" cy="4535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/>
          <a:lstStyle/>
          <a:p>
            <a:fld id="{F4C0BD39-1B99-433C-9596-B5362264345D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/>
          <a:lstStyle/>
          <a:p>
            <a:fld id="{546F705C-6922-4C96-9DE2-DADC8B001C2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518227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20623"/>
            <a:ext cx="4494189" cy="13258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1975104"/>
            <a:ext cx="4494063" cy="4156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776" y="6343955"/>
            <a:ext cx="2098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13651" y="6343955"/>
            <a:ext cx="1573037" cy="365125"/>
          </a:xfrm>
        </p:spPr>
        <p:txBody>
          <a:bodyPr/>
          <a:lstStyle/>
          <a:p>
            <a:fld id="{F4C0BD39-1B99-433C-9596-B5362264345D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6658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46F705C-6922-4C96-9DE2-DADC8B001C2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047560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429768"/>
            <a:ext cx="3657600" cy="166722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3" y="2315569"/>
            <a:ext cx="3657600" cy="3814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7" y="6343955"/>
            <a:ext cx="1637337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03447" y="6343955"/>
            <a:ext cx="949766" cy="365125"/>
          </a:xfrm>
        </p:spPr>
        <p:txBody>
          <a:bodyPr/>
          <a:lstStyle/>
          <a:p>
            <a:fld id="{F4C0BD39-1B99-433C-9596-B5362264345D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653213" y="6343955"/>
            <a:ext cx="429207" cy="365125"/>
          </a:xfrm>
        </p:spPr>
        <p:txBody>
          <a:bodyPr/>
          <a:lstStyle/>
          <a:p>
            <a:fld id="{546F705C-6922-4C96-9DE2-DADC8B001C29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95088" y="0"/>
            <a:ext cx="729691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709360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1" y="929554"/>
            <a:ext cx="2699254" cy="185894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343955"/>
            <a:ext cx="140446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4C0BD39-1B99-433C-9596-B5362264345D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546F705C-6922-4C96-9DE2-DADC8B001C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01268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162318"/>
            <a:ext cx="3044954" cy="1892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4162318"/>
            <a:ext cx="7460029" cy="20915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0BD39-1B99-433C-9596-B5362264345D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F705C-6922-4C96-9DE2-DADC8B001C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88138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9341"/>
            <a:ext cx="10969753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12398"/>
            <a:ext cx="4637269" cy="4207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C8422D5-19BC-1CA0-FD0B-D86260BAA32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737221" y="1912938"/>
            <a:ext cx="5741992" cy="422433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/>
          <a:lstStyle/>
          <a:p>
            <a:fld id="{F4C0BD39-1B99-433C-9596-B5362264345D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/>
          <a:lstStyle/>
          <a:p>
            <a:fld id="{546F705C-6922-4C96-9DE2-DADC8B001C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74709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06802"/>
            <a:ext cx="4672584" cy="126948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0468" y="2173850"/>
            <a:ext cx="4564763" cy="396368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563" y="732155"/>
            <a:ext cx="5676838" cy="54053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0BD39-1B99-433C-9596-B5362264345D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F705C-6922-4C96-9DE2-DADC8B001C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54832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893733"/>
            <a:ext cx="9762068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484094"/>
            <a:ext cx="10543032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4C0BD39-1B99-433C-9596-B5362264345D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6F705C-6922-4C96-9DE2-DADC8B001C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94048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264" y="42335"/>
            <a:ext cx="11517039" cy="61722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8000" b="1"/>
            </a:lvl1pPr>
            <a:lvl2pPr marL="228600" indent="0">
              <a:lnSpc>
                <a:spcPct val="90000"/>
              </a:lnSpc>
              <a:buNone/>
              <a:defRPr sz="7200" b="1"/>
            </a:lvl2pPr>
            <a:lvl3pPr marL="457200" indent="0">
              <a:lnSpc>
                <a:spcPct val="90000"/>
              </a:lnSpc>
              <a:buNone/>
              <a:defRPr sz="66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54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0BD39-1B99-433C-9596-B5362264345D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F705C-6922-4C96-9DE2-DADC8B001C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75069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9200"/>
            <a:ext cx="9198864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3324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0BD39-1B99-433C-9596-B5362264345D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F705C-6922-4C96-9DE2-DADC8B001C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33300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741152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825625"/>
            <a:ext cx="50749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8563" y="1825625"/>
            <a:ext cx="5075237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0BD39-1B99-433C-9596-B5362264345D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F705C-6922-4C96-9DE2-DADC8B001C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86607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12064"/>
            <a:ext cx="10745788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387600"/>
            <a:ext cx="5075238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0468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832" y="2387600"/>
            <a:ext cx="5075556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0BD39-1B99-433C-9596-B5362264345D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F705C-6922-4C96-9DE2-DADC8B001C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42966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963656" cy="96926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0BD39-1B99-433C-9596-B5362264345D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F705C-6922-4C96-9DE2-DADC8B001C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08468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0BD39-1B99-433C-9596-B5362264345D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F705C-6922-4C96-9DE2-DADC8B001C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88937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" y="89808"/>
            <a:ext cx="11462003" cy="2514600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118757"/>
            <a:ext cx="10963528" cy="2620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0BD39-1B99-433C-9596-B5362264345D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F705C-6922-4C96-9DE2-DADC8B001C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37025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60800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0BD39-1B99-433C-9596-B5362264345D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6F705C-6922-4C96-9DE2-DADC8B001C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38197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4649"/>
            <a:ext cx="10963655" cy="9723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09862"/>
            <a:ext cx="10963656" cy="4513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F4C0BD39-1B99-433C-9596-B5362264345D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46F705C-6922-4C96-9DE2-DADC8B001C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1017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  <p:sldLayoutId id="2147483822" r:id="rId8"/>
    <p:sldLayoutId id="2147483823" r:id="rId9"/>
    <p:sldLayoutId id="2147483824" r:id="rId10"/>
    <p:sldLayoutId id="2147483825" r:id="rId11"/>
    <p:sldLayoutId id="2147483826" r:id="rId12"/>
    <p:sldLayoutId id="2147483827" r:id="rId13"/>
    <p:sldLayoutId id="2147483828" r:id="rId14"/>
    <p:sldLayoutId id="2147483829" r:id="rId15"/>
    <p:sldLayoutId id="2147483830" r:id="rId16"/>
    <p:sldLayoutId id="2147483831" r:id="rId17"/>
    <p:sldLayoutId id="2147483832" r:id="rId18"/>
    <p:sldLayoutId id="2147483833" r:id="rId19"/>
    <p:sldLayoutId id="2147483834" r:id="rId20"/>
    <p:sldLayoutId id="2147483835" r:id="rId21"/>
    <p:sldLayoutId id="2147483836" r:id="rId22"/>
    <p:sldLayoutId id="2147483837" r:id="rId23"/>
    <p:sldLayoutId id="2147483838" r:id="rId24"/>
    <p:sldLayoutId id="2147483839" r:id="rId25"/>
    <p:sldLayoutId id="2147483840" r:id="rId26"/>
    <p:sldLayoutId id="2147483841" r:id="rId27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800" b="1" kern="1200" spc="-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7296">
          <p15:clr>
            <a:srgbClr val="F26B43"/>
          </p15:clr>
        </p15:guide>
        <p15:guide id="1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10D19-4BFF-BEEB-743A-DB3F99AE45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chemeClr val="accent1"/>
                </a:solidFill>
                <a:latin typeface="Arial Black" panose="020B0A04020102020204" pitchFamily="34" charset="0"/>
              </a:rPr>
              <a:t>AI Job Posting </a:t>
            </a:r>
            <a:r>
              <a:rPr lang="en-IN" b="1" dirty="0">
                <a:latin typeface="Arial Black" panose="020B0A04020102020204" pitchFamily="34" charset="0"/>
              </a:rPr>
              <a:t>Analytics &amp; Insights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338758-A85D-45ED-670B-CCFD1059D5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solidFill>
                  <a:schemeClr val="accent6"/>
                </a:solidFill>
              </a:rPr>
              <a:t>Gajera Akshit </a:t>
            </a:r>
          </a:p>
          <a:p>
            <a:r>
              <a:rPr lang="en-IN" sz="1800" b="1" dirty="0">
                <a:solidFill>
                  <a:schemeClr val="accent6"/>
                </a:solidFill>
              </a:rPr>
              <a:t>AF05148719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EF97FC-124E-DF70-6EBB-4AEE7D1262DD}"/>
              </a:ext>
            </a:extLst>
          </p:cNvPr>
          <p:cNvSpPr txBox="1"/>
          <p:nvPr/>
        </p:nvSpPr>
        <p:spPr>
          <a:xfrm>
            <a:off x="72736" y="242108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3827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1D0C1-2230-6441-0070-73361DBBE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726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>
                <a:solidFill>
                  <a:schemeClr val="accent3"/>
                </a:solidFill>
              </a:rPr>
              <a:t>Background:</a:t>
            </a:r>
            <a:br>
              <a:rPr lang="en-IN" sz="3600" dirty="0"/>
            </a:br>
            <a:r>
              <a:rPr lang="en-IN" sz="2000" dirty="0"/>
              <a:t>The Artificial Intelligence and Machine Learning industry has seen explosive growth over the past few years, creating a surge in specialized job roles — from Machine Learning Engineers and AI Architects to Autonomous Systems Engineers. However, this rapid expansion has created a fragmented and opaque job market where critical information is scattered across platforms, making informed decision-making difficult for all stakeholders.</a:t>
            </a:r>
            <a:endParaRPr lang="en-IN" sz="36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3B4E11A-9E93-DE03-829E-671DEC7FE9EC}"/>
              </a:ext>
            </a:extLst>
          </p:cNvPr>
          <p:cNvSpPr txBox="1">
            <a:spLocks/>
          </p:cNvSpPr>
          <p:nvPr/>
        </p:nvSpPr>
        <p:spPr>
          <a:xfrm>
            <a:off x="838200" y="5000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chemeClr val="accent1"/>
                </a:solidFill>
                <a:latin typeface="Arial Black" panose="020B0A04020102020204" pitchFamily="34" charset="0"/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3915610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4A703-8E43-058E-53EB-F5CDC2F30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0B388-6462-F9B3-CB29-35BD0C45B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0037"/>
            <a:ext cx="9942409" cy="5027900"/>
          </a:xfrm>
        </p:spPr>
        <p:txBody>
          <a:bodyPr>
            <a:normAutofit lnSpcReduction="10000"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IN" sz="1800" b="1" dirty="0"/>
              <a:t>Lack of Salary Transparency</a:t>
            </a:r>
            <a:r>
              <a:rPr lang="en-IN" sz="1800" dirty="0"/>
              <a:t> </a:t>
            </a:r>
          </a:p>
          <a:p>
            <a:pPr lvl="1"/>
            <a:r>
              <a:rPr lang="en-IN" sz="1800" dirty="0"/>
              <a:t>Compensation varies widely ($115K average, but with significant spread) based on experience, company size, industry, and location — yet job seekers have no consolidated benchmark to evaluate offers or negotiate fairly</a:t>
            </a:r>
          </a:p>
          <a:p>
            <a:pPr lvl="1"/>
            <a:r>
              <a:rPr lang="en-IN" sz="1800" dirty="0"/>
              <a:t>Unclear how benefits scores, remote ratio, and experience jointly influence total compensation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800" b="1" dirty="0"/>
              <a:t>Fragmented Skill Demand Signals</a:t>
            </a:r>
            <a:r>
              <a:rPr lang="en-IN" sz="1800" dirty="0"/>
              <a:t> </a:t>
            </a:r>
          </a:p>
          <a:p>
            <a:pPr lvl="1"/>
            <a:r>
              <a:rPr lang="en-IN" sz="1800" dirty="0"/>
              <a:t>In-demand skills (Python, SQL, AWS, Deep Learning, TensorFlow, </a:t>
            </a:r>
            <a:r>
              <a:rPr lang="en-IN" sz="1800" dirty="0" err="1"/>
              <a:t>MLOps</a:t>
            </a:r>
            <a:r>
              <a:rPr lang="en-IN" sz="1800" dirty="0"/>
              <a:t>, Kubernetes, NLP) are mentioned inconsistently across job boards, making it hard for students/professionals to prioritize learning paths that align with market needs</a:t>
            </a:r>
          </a:p>
          <a:p>
            <a:pPr marL="342900" lvl="0" indent="-342900">
              <a:buFont typeface="+mj-lt"/>
              <a:buAutoNum type="arabicPeriod" startAt="3"/>
            </a:pPr>
            <a:r>
              <a:rPr lang="en-IN" sz="1800" b="1" dirty="0"/>
              <a:t>Unclear Remote Work Trends</a:t>
            </a:r>
            <a:r>
              <a:rPr lang="en-IN" sz="1800" dirty="0"/>
              <a:t> </a:t>
            </a:r>
          </a:p>
          <a:p>
            <a:pPr lvl="1"/>
            <a:r>
              <a:rPr lang="en-IN" sz="1800" dirty="0"/>
              <a:t>Only ~33% of roles are fully remote, but this varies drastically by industry (e.g., Media/Consulting </a:t>
            </a:r>
            <a:r>
              <a:rPr lang="en-IN" sz="1800" dirty="0" err="1"/>
              <a:t>favor</a:t>
            </a:r>
            <a:r>
              <a:rPr lang="en-IN" sz="1800" dirty="0"/>
              <a:t> hybrid) — without data, professionals can't target industries matching their work-flexibility preferences</a:t>
            </a:r>
          </a:p>
          <a:p>
            <a:pPr lvl="1"/>
            <a:endParaRPr lang="en-IN" sz="18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DE8705B-16A7-20DB-BDBB-AE2A41AAA186}"/>
              </a:ext>
            </a:extLst>
          </p:cNvPr>
          <p:cNvSpPr txBox="1">
            <a:spLocks/>
          </p:cNvSpPr>
          <p:nvPr/>
        </p:nvSpPr>
        <p:spPr>
          <a:xfrm>
            <a:off x="838200" y="500063"/>
            <a:ext cx="10515600" cy="8299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b="1" dirty="0">
                <a:solidFill>
                  <a:schemeClr val="accent3"/>
                </a:solidFill>
              </a:rPr>
              <a:t>Key Problems Identified:</a:t>
            </a:r>
            <a:endParaRPr lang="en-IN" sz="28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200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BE279-6006-8CAA-1816-DB27D1628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8FF66-C702-D9C0-C166-6C6CADDAE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5022" y="549130"/>
            <a:ext cx="9942409" cy="5759739"/>
          </a:xfrm>
        </p:spPr>
        <p:txBody>
          <a:bodyPr>
            <a:normAutofit/>
          </a:bodyPr>
          <a:lstStyle/>
          <a:p>
            <a:pPr marL="342900" lvl="0" indent="-342900">
              <a:buFont typeface="+mj-lt"/>
              <a:buAutoNum type="arabicPeriod" startAt="4"/>
            </a:pPr>
            <a:r>
              <a:rPr lang="en-IN" sz="1800" b="1" dirty="0"/>
              <a:t>Education-to-Opportunity Mismatch</a:t>
            </a:r>
            <a:r>
              <a:rPr lang="en-IN" sz="1800" dirty="0"/>
              <a:t> </a:t>
            </a:r>
          </a:p>
          <a:p>
            <a:pPr lvl="1"/>
            <a:r>
              <a:rPr lang="en-IN" sz="1800" dirty="0"/>
              <a:t>Nearly equal demand across Bachelor's, Master's, Associate, and PhD-level roles (~25% each) raises the question of whether higher education levels are translating into proportionally better outcomes (salary, seniority) — this isn't visible without analysis</a:t>
            </a:r>
          </a:p>
          <a:p>
            <a:pPr marL="342900" lvl="0" indent="-342900">
              <a:buFont typeface="+mj-lt"/>
              <a:buAutoNum type="arabicPeriod" startAt="5"/>
            </a:pPr>
            <a:r>
              <a:rPr lang="en-IN" sz="1800" b="1" dirty="0"/>
              <a:t>Inconsistent Regional &amp; Industry Hiring Patterns</a:t>
            </a:r>
            <a:r>
              <a:rPr lang="en-IN" sz="1800" dirty="0"/>
              <a:t> </a:t>
            </a:r>
          </a:p>
          <a:p>
            <a:pPr lvl="1"/>
            <a:r>
              <a:rPr lang="en-IN" sz="1800" dirty="0"/>
              <a:t>Hiring is concentrated in specific countries (Germany, France, Denmark, Canada, Austria) and industries (Retail, Technology leading) — but the underlying drivers (cost of </a:t>
            </a:r>
            <a:r>
              <a:rPr lang="en-IN" sz="1800" dirty="0" err="1"/>
              <a:t>labor</a:t>
            </a:r>
            <a:r>
              <a:rPr lang="en-IN" sz="1800" dirty="0"/>
              <a:t>, remote policies, industry maturity) are not well understood by outside observers</a:t>
            </a:r>
          </a:p>
          <a:p>
            <a:pPr marL="342900" lvl="0" indent="-342900">
              <a:buFont typeface="+mj-lt"/>
              <a:buAutoNum type="arabicPeriod" startAt="6"/>
            </a:pPr>
            <a:r>
              <a:rPr lang="en-IN" sz="1800" b="1" dirty="0"/>
              <a:t>No Centralized Decision-Support Tool</a:t>
            </a:r>
            <a:r>
              <a:rPr lang="en-IN" sz="1800" dirty="0"/>
              <a:t> </a:t>
            </a:r>
          </a:p>
          <a:p>
            <a:pPr lvl="1"/>
            <a:r>
              <a:rPr lang="en-IN" sz="1800" dirty="0"/>
              <a:t>Job seekers, HR teams, and career </a:t>
            </a:r>
            <a:r>
              <a:rPr lang="en-IN" sz="1800" dirty="0" err="1"/>
              <a:t>counselors</a:t>
            </a:r>
            <a:r>
              <a:rPr lang="en-IN" sz="1800" dirty="0"/>
              <a:t> currently rely on manual research across multiple job boards and salary aggregators — a slow, incomplete, and bias-prone process with no single source of truth</a:t>
            </a:r>
          </a:p>
          <a:p>
            <a:pPr lvl="1"/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622314751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B93026-B8A4-4FE9-8E48-8009734911E7}" vid="{E43B60F7-EC4F-4A08-AFF5-BDC94162E53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46</TotalTime>
  <Words>368</Words>
  <Application>Microsoft Office PowerPoint</Application>
  <PresentationFormat>Widescreen</PresentationFormat>
  <Paragraphs>19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Arial Black</vt:lpstr>
      <vt:lpstr>Helena</vt:lpstr>
      <vt:lpstr>AI Job Posting Analytics &amp; Insights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Akshit Gajera</dc:creator>
  <cp:lastModifiedBy>Akshit Gajera</cp:lastModifiedBy>
  <cp:revision>6</cp:revision>
  <dcterms:created xsi:type="dcterms:W3CDTF">2026-09-10T06:25:06Z</dcterms:created>
  <dcterms:modified xsi:type="dcterms:W3CDTF">2026-09-11T04:07:42Z</dcterms:modified>
</cp:coreProperties>
</file>