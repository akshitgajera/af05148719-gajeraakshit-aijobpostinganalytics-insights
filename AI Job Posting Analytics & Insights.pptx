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6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57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59975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09623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8446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09025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4155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7806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61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9370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1871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0045781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9068653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48645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46543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6780172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9519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47844578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42817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0405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7906460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28426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93500899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61150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501036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717617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69854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71082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376715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F4C0BD39-1B99-433C-9596-B5362264345D}" type="datetimeFigureOut">
              <a:rPr lang="en-IN" smtClean="0"/>
              <a:t>11-09-2026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46F705C-6922-4C96-9DE2-DADC8B001C2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82182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22" r:id="rId6"/>
    <p:sldLayoutId id="2147483723" r:id="rId7"/>
    <p:sldLayoutId id="2147483724" r:id="rId8"/>
    <p:sldLayoutId id="2147483725" r:id="rId9"/>
    <p:sldLayoutId id="2147483726" r:id="rId10"/>
    <p:sldLayoutId id="2147483727" r:id="rId11"/>
    <p:sldLayoutId id="2147483728" r:id="rId12"/>
    <p:sldLayoutId id="2147483729" r:id="rId13"/>
    <p:sldLayoutId id="2147483730" r:id="rId14"/>
    <p:sldLayoutId id="2147483731" r:id="rId15"/>
    <p:sldLayoutId id="2147483732" r:id="rId16"/>
    <p:sldLayoutId id="2147483733" r:id="rId17"/>
    <p:sldLayoutId id="2147483734" r:id="rId18"/>
    <p:sldLayoutId id="2147483735" r:id="rId19"/>
    <p:sldLayoutId id="2147483736" r:id="rId20"/>
    <p:sldLayoutId id="2147483737" r:id="rId21"/>
    <p:sldLayoutId id="2147483738" r:id="rId22"/>
    <p:sldLayoutId id="2147483739" r:id="rId23"/>
    <p:sldLayoutId id="2147483740" r:id="rId24"/>
    <p:sldLayoutId id="2147483741" r:id="rId25"/>
    <p:sldLayoutId id="2147483742" r:id="rId26"/>
    <p:sldLayoutId id="2147483743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310D19-4BFF-BEEB-743A-DB3F99AE45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AI Job Posting </a:t>
            </a:r>
            <a:r>
              <a:rPr lang="en-IN" b="1" dirty="0">
                <a:latin typeface="Arial Black" panose="020B0A04020102020204" pitchFamily="34" charset="0"/>
              </a:rPr>
              <a:t>Analytics &amp; Insights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6338758-A85D-45ED-670B-CCFD1059D5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sz="2000" b="1" dirty="0">
                <a:solidFill>
                  <a:schemeClr val="accent4"/>
                </a:solidFill>
              </a:rPr>
              <a:t>Gajera Akshit </a:t>
            </a:r>
          </a:p>
          <a:p>
            <a:r>
              <a:rPr lang="en-IN" sz="1800" b="1" dirty="0">
                <a:solidFill>
                  <a:schemeClr val="accent4"/>
                </a:solidFill>
              </a:rPr>
              <a:t>AF05148719</a:t>
            </a:r>
          </a:p>
        </p:txBody>
      </p:sp>
    </p:spTree>
    <p:extLst>
      <p:ext uri="{BB962C8B-B14F-4D97-AF65-F5344CB8AC3E}">
        <p14:creationId xmlns:p14="http://schemas.microsoft.com/office/powerpoint/2010/main" val="18638277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1D0C1-2230-6441-0070-73361DBBEF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726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>
                <a:solidFill>
                  <a:schemeClr val="accent3"/>
                </a:solidFill>
              </a:rPr>
              <a:t>Background:</a:t>
            </a:r>
            <a:br>
              <a:rPr lang="en-IN" sz="3600" dirty="0"/>
            </a:br>
            <a:r>
              <a:rPr lang="en-IN" sz="2000" dirty="0"/>
              <a:t>The Artificial Intelligence and Machine Learning industry has seen explosive growth over the past few years, creating a surge in specialized job roles — from Machine Learning Engineers and AI Architects to Autonomous Systems Engineers. However, this rapid expansion has created a fragmented and opaque job market where critical information is scattered across platforms, making informed decision-making difficult for all stakeholders.</a:t>
            </a:r>
            <a:endParaRPr lang="en-IN" sz="3600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3B4E11A-9E93-DE03-829E-671DEC7FE9EC}"/>
              </a:ext>
            </a:extLst>
          </p:cNvPr>
          <p:cNvSpPr txBox="1">
            <a:spLocks/>
          </p:cNvSpPr>
          <p:nvPr/>
        </p:nvSpPr>
        <p:spPr>
          <a:xfrm>
            <a:off x="838200" y="500062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b="1" dirty="0">
                <a:solidFill>
                  <a:schemeClr val="accent1"/>
                </a:solidFill>
                <a:latin typeface="Arial Black" panose="020B0A04020102020204" pitchFamily="34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915610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4A703-8E43-058E-53EB-F5CDC2F30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0B388-6462-F9B3-CB29-35BD0C45B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0037"/>
            <a:ext cx="9942409" cy="5027900"/>
          </a:xfrm>
        </p:spPr>
        <p:txBody>
          <a:bodyPr>
            <a:normAutofit lnSpcReduction="10000"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IN" sz="1800" b="1" dirty="0"/>
              <a:t>Lack of Salary Transparency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Compensation varies widely ($115K average, but with significant spread) based on experience, company size, industry, and location — yet job seekers have no consolidated benchmark to evaluate offers or negotiate fairly</a:t>
            </a:r>
          </a:p>
          <a:p>
            <a:pPr lvl="1"/>
            <a:r>
              <a:rPr lang="en-IN" sz="1800" dirty="0"/>
              <a:t>Unclear how benefits scores, remote ratio, and experience jointly influence total compensation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1800" b="1" dirty="0"/>
              <a:t>Fragmented Skill Demand Signals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In-demand skills (Python, SQL, AWS, Deep Learning, TensorFlow, </a:t>
            </a:r>
            <a:r>
              <a:rPr lang="en-IN" sz="1800" dirty="0" err="1"/>
              <a:t>MLOps</a:t>
            </a:r>
            <a:r>
              <a:rPr lang="en-IN" sz="1800" dirty="0"/>
              <a:t>, Kubernetes, NLP) are mentioned inconsistently across job boards, making it hard for students/professionals to prioritize learning paths that align with market needs</a:t>
            </a:r>
          </a:p>
          <a:p>
            <a:pPr marL="342900" lvl="0" indent="-342900">
              <a:buFont typeface="+mj-lt"/>
              <a:buAutoNum type="arabicPeriod" startAt="3"/>
            </a:pPr>
            <a:r>
              <a:rPr lang="en-IN" sz="1800" b="1" dirty="0"/>
              <a:t>Unclear Remote Work Trends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Only ~33% of roles are fully remote, but this varies drastically by industry (e.g., Media/Consulting </a:t>
            </a:r>
            <a:r>
              <a:rPr lang="en-IN" sz="1800" dirty="0" err="1"/>
              <a:t>favor</a:t>
            </a:r>
            <a:r>
              <a:rPr lang="en-IN" sz="1800" dirty="0"/>
              <a:t> hybrid) — without data, professionals can't target industries matching their work-flexibility preferences</a:t>
            </a:r>
          </a:p>
          <a:p>
            <a:pPr lvl="1"/>
            <a:endParaRPr lang="en-IN" sz="18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6DE8705B-16A7-20DB-BDBB-AE2A41AAA186}"/>
              </a:ext>
            </a:extLst>
          </p:cNvPr>
          <p:cNvSpPr txBox="1">
            <a:spLocks/>
          </p:cNvSpPr>
          <p:nvPr/>
        </p:nvSpPr>
        <p:spPr>
          <a:xfrm>
            <a:off x="838200" y="500063"/>
            <a:ext cx="10515600" cy="8299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800" b="1" dirty="0">
                <a:solidFill>
                  <a:schemeClr val="accent3"/>
                </a:solidFill>
              </a:rPr>
              <a:t>Key Problems Identified:</a:t>
            </a:r>
            <a:endParaRPr lang="en-IN" sz="2800" dirty="0">
              <a:solidFill>
                <a:schemeClr val="accent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02008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E279-6006-8CAA-1816-DB27D1628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28FF66-C702-D9C0-C166-6C6CADDAE0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5022" y="549130"/>
            <a:ext cx="9942409" cy="5759739"/>
          </a:xfrm>
        </p:spPr>
        <p:txBody>
          <a:bodyPr>
            <a:normAutofit/>
          </a:bodyPr>
          <a:lstStyle/>
          <a:p>
            <a:pPr marL="342900" lvl="0" indent="-342900">
              <a:buFont typeface="+mj-lt"/>
              <a:buAutoNum type="arabicPeriod" startAt="4"/>
            </a:pPr>
            <a:r>
              <a:rPr lang="en-IN" sz="1800" b="1" dirty="0"/>
              <a:t>Education-to-Opportunity Mismatch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Nearly equal demand across Bachelor's, Master's, Associate, and PhD-level roles (~25% each) raises the question of whether higher education levels are translating into proportionally better outcomes (salary, seniority) — this isn't visible without analysis</a:t>
            </a:r>
          </a:p>
          <a:p>
            <a:pPr lvl="1"/>
            <a:endParaRPr lang="en-IN" sz="1800" dirty="0"/>
          </a:p>
          <a:p>
            <a:pPr marL="342900" lvl="0" indent="-342900">
              <a:buFont typeface="+mj-lt"/>
              <a:buAutoNum type="arabicPeriod" startAt="5"/>
            </a:pPr>
            <a:r>
              <a:rPr lang="en-IN" sz="1800" b="1" dirty="0"/>
              <a:t>Inconsistent Regional &amp; Industry Hiring Patterns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Hiring is concentrated in specific countries (Germany, France, Denmark, Canada, Austria) and industries (Retail, Technology leading) — but the underlying drivers (cost of </a:t>
            </a:r>
            <a:r>
              <a:rPr lang="en-IN" sz="1800" dirty="0" err="1"/>
              <a:t>labor</a:t>
            </a:r>
            <a:r>
              <a:rPr lang="en-IN" sz="1800" dirty="0"/>
              <a:t>, remote policies, industry maturity) are not well understood by outside observers</a:t>
            </a:r>
          </a:p>
          <a:p>
            <a:pPr lvl="1"/>
            <a:endParaRPr lang="en-IN" sz="1800" dirty="0"/>
          </a:p>
          <a:p>
            <a:pPr marL="342900" lvl="0" indent="-342900">
              <a:buFont typeface="+mj-lt"/>
              <a:buAutoNum type="arabicPeriod" startAt="6"/>
            </a:pPr>
            <a:r>
              <a:rPr lang="en-IN" sz="1800" b="1" dirty="0"/>
              <a:t>No Centralized Decision-Support Tool</a:t>
            </a:r>
            <a:r>
              <a:rPr lang="en-IN" sz="1800" dirty="0"/>
              <a:t> </a:t>
            </a:r>
          </a:p>
          <a:p>
            <a:pPr lvl="1"/>
            <a:r>
              <a:rPr lang="en-IN" sz="1800" dirty="0"/>
              <a:t>Job seekers, HR teams, and career </a:t>
            </a:r>
            <a:r>
              <a:rPr lang="en-IN" sz="1800" dirty="0" err="1"/>
              <a:t>counselors</a:t>
            </a:r>
            <a:r>
              <a:rPr lang="en-IN" sz="1800" dirty="0"/>
              <a:t> currently rely on manual research across multiple job boards and salary aggregators — a slow, incomplete, and bias-prone process with no single source of truth</a:t>
            </a:r>
          </a:p>
          <a:p>
            <a:pPr lvl="1"/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1622314751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29</TotalTime>
  <Words>368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Arial Black</vt:lpstr>
      <vt:lpstr>Neue Haas Grotesk Text Pro</vt:lpstr>
      <vt:lpstr>Film Burn</vt:lpstr>
      <vt:lpstr>AI Job Posting Analytics &amp; Insights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Akshit Gajera</dc:creator>
  <cp:lastModifiedBy>Akshit Gajera</cp:lastModifiedBy>
  <cp:revision>5</cp:revision>
  <dcterms:created xsi:type="dcterms:W3CDTF">2026-09-10T06:25:06Z</dcterms:created>
  <dcterms:modified xsi:type="dcterms:W3CDTF">2026-09-11T03:48:15Z</dcterms:modified>
</cp:coreProperties>
</file>